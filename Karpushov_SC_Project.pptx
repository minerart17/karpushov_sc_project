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3"/>
    <p:sldId id="261" r:id="rId4"/>
    <p:sldId id="264" r:id="rId5"/>
    <p:sldId id="266" r:id="rId6"/>
    <p:sldId id="267" r:id="rId7"/>
    <p:sldId id="258" r:id="rId8"/>
    <p:sldId id="259" r:id="rId9"/>
    <p:sldId id="262" r:id="rId10"/>
    <p:sldId id="263" r:id="rId11"/>
    <p:sldId id="268" r:id="rId12"/>
  </p:sldIdLst>
  <p:sldSz cx="12192000" cy="6858000"/>
  <p:notesSz cx="6858000" cy="9144000"/>
  <p:defaultTextStyle>
    <a:defPPr>
      <a:defRPr lang="en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8D230F3-CF80-4859-8CE7-A43EE81993B5}" styleName="Light Style 1 – Acc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–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473"/>
    <p:restoredTop sz="94673"/>
  </p:normalViewPr>
  <p:slideViewPr>
    <p:cSldViewPr snapToGrid="0">
      <p:cViewPr varScale="1">
        <p:scale>
          <a:sx n="109" d="100"/>
          <a:sy n="109" d="100"/>
        </p:scale>
        <p:origin x="208" y="32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05D63D-4D68-0FBD-36F0-BA633349EF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260CEBB-77BF-65F7-F9AB-83B3E7E47F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E5623F-FE84-9090-505A-96F8A97261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32F42E-F0F9-E677-967F-A640B13420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F1E82C-3974-0B1C-97CA-5CADCBE5BD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9424487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E2B2DE-41F9-BEA8-52E1-D1A0FEFB1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D4C6DC-D3A8-F967-8530-36CD4C6B99D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D799F6-754D-8886-81DE-A22F6061C1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C5DA15-154C-F0EE-74C2-0257EF8D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0CBC1B-F6AF-1E95-F668-EDE93BCE3D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090913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722D8-990C-F3F7-58B3-431EE7DFB5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10B7AF-FF42-5E7D-D6E1-84540104DB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DD0B02-6D49-8AF5-4924-5120A32B56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52EAD8-AF21-EB69-2057-4986DF53AE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4B186B-E70F-7D67-8131-D7515443CC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373834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F2E49D-113F-1B51-DCDD-673C813179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3C2E32-D4DE-B0F9-4B32-82D01B6A67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994034-EEC1-A23F-1057-964D7B0F7B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333C17D-6A6F-8FEB-2A26-B3A98253E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0C2ECF2-087F-AAFC-1D17-707AB2C6A3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A7887-98F0-B0BB-EA00-6D2C27A49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56895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8C98B-D0E5-8E1A-5E83-AE85448CB0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42CEC6-74A4-1191-D876-37303DAC0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B0DC05D-0440-076B-A737-B0F33DBAA0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7FE0C9-A40F-DE99-D9B8-BCAA90E055E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9D1EAFD-AABD-C14E-5AA0-B4DD9722764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32F97C6-95C4-9BC8-7B05-E3A327B60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FA2D9E8-248E-2C23-89AB-19AD2ECEC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8A3767-C8F5-DAA7-CCF5-B65857462E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84569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04D5D-FBEE-005E-7E5C-0674278CB9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0E4638-D5D6-C964-149B-A74CE227B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0088A28-0102-CE7C-CD1A-31E40C88D3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B29695B-7943-AE82-5F21-82B0BDBD11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502683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42C0C2C-EA8C-EA8B-0FE1-EA5388071A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AD2911D-A2AA-B1CC-D27B-4854F107F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55AED8D-8568-91EF-0B39-C8AF0EBF4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377398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F8F862-8103-0FE8-9C0D-1B138E7AC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DEA61-B0F5-F4D5-5BE9-6962D1A128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0AC13FB-9E22-761B-1D1A-50574C4D88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009B312-0EA2-4DB3-AEAA-A8D80ABA7B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848B39C-FCB3-EDD0-6FDF-0893CC83A4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8D01A5F-22E6-A5B8-C9B2-62578CC7DA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7385961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12D117-8169-D9B4-0B43-B4D3AB79A0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61C460B-A004-816D-C89B-9096C0341AC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R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A603D-EE6B-A832-DC4C-B06A498D37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D5DD6F-30BE-599D-4F70-7B3D20930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777B54E-57AE-4CA4-A246-D2EEC16CE6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28DC243-DBF2-98E1-9059-F0D9355D02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4861036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C24AC9-A6B2-ADD3-5056-F16F027527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12C20A5-B9F7-C7A1-E546-3103D296D6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E22E2F-2BBC-75ED-A6AE-3A8E2AF68F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A994E4-5060-8078-23D6-B337A64669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48A34B-DD9E-FBF0-297A-F17C49286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42799851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8A4729B-1F11-D303-3F1D-680DAD8E4F4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9B7958-A092-8558-0A45-D19D96A490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DAB645-30E2-1698-602F-C9CF9DCF99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3EC78-F1E7-AC4B-DA26-4393288A13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BEF9B-977D-0C13-F1F9-13EF194C32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9270821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8CBA99B-BD81-08B7-B08B-27C4FCB13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R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5AD12D-A404-4EA4-ADC3-0F5A2634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R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EA49E2-1ACD-9A5D-420B-35DEE7C7147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6B360A3-169E-454E-B672-17C6FB7E431E}" type="datetimeFigureOut">
              <a:rPr lang="en-RU" smtClean="0"/>
              <a:t>15.12.2025</a:t>
            </a:fld>
            <a:endParaRPr lang="en-R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5D77D4-4F26-1137-68DD-14B831AF2F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R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48359F-23C0-3E51-878E-5FCC812075F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AE2BEA9-58D1-9D40-895B-C69F4CD1B205}" type="slidenum">
              <a:rPr lang="en-RU" smtClean="0"/>
              <a:t>‹#›</a:t>
            </a:fld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23939597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7A9A5-739E-196E-37EB-85A07EE084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1798518"/>
            <a:ext cx="12192000" cy="2387600"/>
          </a:xfrm>
        </p:spPr>
        <p:txBody>
          <a:bodyPr>
            <a:normAutofit fontScale="90000"/>
          </a:bodyPr>
          <a:lstStyle/>
          <a:p>
            <a:pPr>
              <a:lnSpc>
                <a:spcPct val="100000"/>
              </a:lnSpc>
            </a:pPr>
            <a:r>
              <a:rPr lang="ru-RU" b="1" i="0" dirty="0">
                <a:effectLst/>
                <a:latin typeface="-apple-system"/>
              </a:rPr>
              <a:t>Дифференциальная экспрессия </a:t>
            </a:r>
            <a:br>
              <a:rPr lang="ru-RU" b="1" i="0" dirty="0">
                <a:effectLst/>
                <a:latin typeface="-apple-system"/>
              </a:rPr>
            </a:br>
            <a:br>
              <a:rPr lang="ru-RU" b="1" i="0" dirty="0">
                <a:effectLst/>
                <a:latin typeface="-apple-system"/>
              </a:rPr>
            </a:br>
            <a:r>
              <a:rPr lang="ru-RU" b="1" i="0" dirty="0">
                <a:effectLst/>
                <a:latin typeface="-apple-system"/>
              </a:rPr>
              <a:t>Отрицательные биномиальные модели </a:t>
            </a:r>
            <a:br>
              <a:rPr lang="ru-RU" b="1" i="0" dirty="0">
                <a:effectLst/>
                <a:latin typeface="-apple-system"/>
              </a:rPr>
            </a:br>
            <a:r>
              <a:rPr lang="en-US" b="1" i="0" dirty="0">
                <a:effectLst/>
                <a:latin typeface="-apple-system"/>
              </a:rPr>
              <a:t>vs. </a:t>
            </a:r>
            <a:r>
              <a:rPr lang="ru-RU" b="1" i="0" dirty="0">
                <a:effectLst/>
                <a:latin typeface="-apple-system"/>
              </a:rPr>
              <a:t>Т-тест </a:t>
            </a:r>
            <a:br>
              <a:rPr lang="ru-RU" b="1" i="0" dirty="0">
                <a:effectLst/>
                <a:latin typeface="-apple-system"/>
              </a:rPr>
            </a:br>
            <a:r>
              <a:rPr lang="en-US" b="1" i="0" dirty="0">
                <a:effectLst/>
                <a:latin typeface="-apple-system"/>
              </a:rPr>
              <a:t>vs. </a:t>
            </a:r>
            <a:r>
              <a:rPr lang="ru-RU" b="1" i="0" dirty="0">
                <a:effectLst/>
                <a:latin typeface="-apple-system"/>
              </a:rPr>
              <a:t>Тест Манна-Уитни</a:t>
            </a:r>
            <a:endParaRPr lang="en-RU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850B245-84AB-7961-91EE-9495E1107110}"/>
              </a:ext>
            </a:extLst>
          </p:cNvPr>
          <p:cNvSpPr txBox="1"/>
          <p:nvPr/>
        </p:nvSpPr>
        <p:spPr>
          <a:xfrm>
            <a:off x="5341627" y="6287946"/>
            <a:ext cx="167706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1" dirty="0"/>
              <a:t>Москва, 2025</a:t>
            </a:r>
            <a:endParaRPr lang="en-RU" sz="20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C93D7F-5274-99D4-C2B3-1E5A8784D0ED}"/>
              </a:ext>
            </a:extLst>
          </p:cNvPr>
          <p:cNvSpPr txBox="1"/>
          <p:nvPr/>
        </p:nvSpPr>
        <p:spPr>
          <a:xfrm>
            <a:off x="7382368" y="4821533"/>
            <a:ext cx="434901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ru-RU" sz="2400" b="1" dirty="0" err="1"/>
              <a:t>Карпушов</a:t>
            </a:r>
            <a:r>
              <a:rPr lang="ru-RU" sz="2400" b="1" dirty="0"/>
              <a:t> Артём</a:t>
            </a:r>
          </a:p>
          <a:p>
            <a:pPr algn="r"/>
            <a:r>
              <a:rPr lang="ru-RU" sz="2400" b="1" dirty="0"/>
              <a:t>Геномика и здоровье человека</a:t>
            </a:r>
            <a:endParaRPr lang="en-RU" sz="2400" b="1" dirty="0"/>
          </a:p>
        </p:txBody>
      </p:sp>
    </p:spTree>
    <p:extLst>
      <p:ext uri="{BB962C8B-B14F-4D97-AF65-F5344CB8AC3E}">
        <p14:creationId xmlns:p14="http://schemas.microsoft.com/office/powerpoint/2010/main" val="81949568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7AEF490-7EBC-BCCC-0C21-845BB15CCC24}"/>
              </a:ext>
            </a:extLst>
          </p:cNvPr>
          <p:cNvSpPr txBox="1"/>
          <p:nvPr/>
        </p:nvSpPr>
        <p:spPr>
          <a:xfrm>
            <a:off x="370746" y="1182231"/>
            <a:ext cx="11450507" cy="224676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800" b="1" dirty="0"/>
              <a:t>Основные методы для анализа дифференциальной экспрессии</a:t>
            </a:r>
            <a:endParaRPr lang="en-US" sz="2800" b="1" dirty="0"/>
          </a:p>
          <a:p>
            <a:endParaRPr lang="ru-RU" sz="2800" b="1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b="1" dirty="0"/>
              <a:t>Параметрический т-тест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b="1" dirty="0"/>
              <a:t>Непараметрический тест Манна-Уитни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800" b="1" dirty="0"/>
              <a:t>Модели отрицательного биномиального распределения (</a:t>
            </a:r>
            <a:r>
              <a:rPr lang="en-US" sz="2800" b="1" dirty="0"/>
              <a:t>pydeseq2)</a:t>
            </a:r>
            <a:endParaRPr lang="en-RU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F65FF7-9178-B997-9750-958425484885}"/>
              </a:ext>
            </a:extLst>
          </p:cNvPr>
          <p:cNvSpPr txBox="1"/>
          <p:nvPr/>
        </p:nvSpPr>
        <p:spPr>
          <a:xfrm>
            <a:off x="5028624" y="225778"/>
            <a:ext cx="213475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Введение</a:t>
            </a:r>
            <a:endParaRPr lang="en-RU" sz="3600" b="1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B4C53E5E-54CF-18E8-E305-C7D90C43804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4711" y="3906096"/>
            <a:ext cx="3675066" cy="2760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7C8D321B-43D5-E06C-5C6C-B6DEDD53D4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29977" y="3906096"/>
            <a:ext cx="3685288" cy="2760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53070D3F-BDA7-E8F2-3A36-3CEA16C7A6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55465" y="3906095"/>
            <a:ext cx="2760133" cy="2760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939076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D2DBFCA-161B-9501-1BC6-53EF9325EA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0461" y="1713130"/>
            <a:ext cx="11331073" cy="458320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C063E56-CD0A-4774-7009-14AEA0D5E985}"/>
              </a:ext>
            </a:extLst>
          </p:cNvPr>
          <p:cNvSpPr txBox="1"/>
          <p:nvPr/>
        </p:nvSpPr>
        <p:spPr>
          <a:xfrm>
            <a:off x="239363" y="129822"/>
            <a:ext cx="1171327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Модели отрицательного биномиального распределения </a:t>
            </a:r>
          </a:p>
          <a:p>
            <a:pPr algn="ctr"/>
            <a:r>
              <a:rPr lang="ru-RU" sz="3600" b="1" dirty="0"/>
              <a:t>(</a:t>
            </a:r>
            <a:r>
              <a:rPr lang="en-US" sz="3600" b="1" dirty="0"/>
              <a:t>pydeseq2)</a:t>
            </a:r>
            <a:endParaRPr lang="en-RU" sz="3600" b="1" dirty="0"/>
          </a:p>
        </p:txBody>
      </p:sp>
    </p:spTree>
    <p:extLst>
      <p:ext uri="{BB962C8B-B14F-4D97-AF65-F5344CB8AC3E}">
        <p14:creationId xmlns:p14="http://schemas.microsoft.com/office/powerpoint/2010/main" val="3733334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AB0CC651-91EB-59A5-55C3-9FEDC6FBF765}"/>
              </a:ext>
            </a:extLst>
          </p:cNvPr>
          <p:cNvGrpSpPr/>
          <p:nvPr/>
        </p:nvGrpSpPr>
        <p:grpSpPr>
          <a:xfrm>
            <a:off x="285259" y="633046"/>
            <a:ext cx="11066587" cy="6224954"/>
            <a:chOff x="0" y="0"/>
            <a:chExt cx="12192000" cy="6857999"/>
          </a:xfrm>
        </p:grpSpPr>
        <p:pic>
          <p:nvPicPr>
            <p:cNvPr id="1026" name="Picture 2">
              <a:extLst>
                <a:ext uri="{FF2B5EF4-FFF2-40B4-BE49-F238E27FC236}">
                  <a16:creationId xmlns:a16="http://schemas.microsoft.com/office/drawing/2014/main" id="{2F6A74B4-A3C3-5025-7085-020552A829A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0585" r="41154"/>
            <a:stretch/>
          </p:blipFill>
          <p:spPr bwMode="auto">
            <a:xfrm>
              <a:off x="0" y="0"/>
              <a:ext cx="6102144" cy="342899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28" name="Picture 4">
              <a:extLst>
                <a:ext uri="{FF2B5EF4-FFF2-40B4-BE49-F238E27FC236}">
                  <a16:creationId xmlns:a16="http://schemas.microsoft.com/office/drawing/2014/main" id="{CC142689-4653-8057-69E0-E56568B861F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7380" r="35961"/>
            <a:stretch/>
          </p:blipFill>
          <p:spPr bwMode="auto">
            <a:xfrm>
              <a:off x="6089857" y="0"/>
              <a:ext cx="6075626" cy="3429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0" name="Picture 6">
              <a:extLst>
                <a:ext uri="{FF2B5EF4-FFF2-40B4-BE49-F238E27FC236}">
                  <a16:creationId xmlns:a16="http://schemas.microsoft.com/office/drawing/2014/main" id="{1C2643E3-928C-CE10-137A-9053F88B0D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9596" r="44712"/>
            <a:stretch/>
          </p:blipFill>
          <p:spPr bwMode="auto">
            <a:xfrm>
              <a:off x="0" y="3428998"/>
              <a:ext cx="6096000" cy="3429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7D42084F-5C96-AF53-34CE-E1FF3BD8754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3264" r="43039"/>
            <a:stretch/>
          </p:blipFill>
          <p:spPr bwMode="auto">
            <a:xfrm>
              <a:off x="6102144" y="3428998"/>
              <a:ext cx="6089856" cy="3429001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83C93349-B8B5-1908-1DBC-06C49A0119C7}"/>
              </a:ext>
            </a:extLst>
          </p:cNvPr>
          <p:cNvSpPr txBox="1"/>
          <p:nvPr/>
        </p:nvSpPr>
        <p:spPr>
          <a:xfrm>
            <a:off x="3547122" y="131993"/>
            <a:ext cx="508761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Аннотация типов клеток</a:t>
            </a:r>
            <a:endParaRPr lang="en-RU" sz="3600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B960E0C-9B2C-6757-AD45-2BD8A3E29CB3}"/>
              </a:ext>
            </a:extLst>
          </p:cNvPr>
          <p:cNvSpPr/>
          <p:nvPr/>
        </p:nvSpPr>
        <p:spPr>
          <a:xfrm>
            <a:off x="10480431" y="2145324"/>
            <a:ext cx="1148862" cy="13496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770F29C9-5F14-79DF-4E0B-D97CE67C6D4E}"/>
              </a:ext>
            </a:extLst>
          </p:cNvPr>
          <p:cNvSpPr/>
          <p:nvPr/>
        </p:nvSpPr>
        <p:spPr>
          <a:xfrm>
            <a:off x="11023599" y="5146431"/>
            <a:ext cx="1148862" cy="78620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79C58BB-6F7B-5309-66D7-FD194D898133}"/>
              </a:ext>
            </a:extLst>
          </p:cNvPr>
          <p:cNvSpPr/>
          <p:nvPr/>
        </p:nvSpPr>
        <p:spPr>
          <a:xfrm>
            <a:off x="5318201" y="5616115"/>
            <a:ext cx="538857" cy="6330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D006B75-55EB-39C9-8E78-3C315D904852}"/>
              </a:ext>
            </a:extLst>
          </p:cNvPr>
          <p:cNvSpPr/>
          <p:nvPr/>
        </p:nvSpPr>
        <p:spPr>
          <a:xfrm>
            <a:off x="5030390" y="2344614"/>
            <a:ext cx="944497" cy="134967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  <p:extLst>
      <p:ext uri="{BB962C8B-B14F-4D97-AF65-F5344CB8AC3E}">
        <p14:creationId xmlns:p14="http://schemas.microsoft.com/office/powerpoint/2010/main" val="1621502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967CA21D-7DAC-1F9A-62A2-94C0E8E0E58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8645" t="10684" r="29270" b="11828"/>
          <a:stretch/>
        </p:blipFill>
        <p:spPr>
          <a:xfrm>
            <a:off x="8943278" y="1015860"/>
            <a:ext cx="2753527" cy="2672513"/>
          </a:xfrm>
          <a:prstGeom prst="rect">
            <a:avLst/>
          </a:prstGeom>
        </p:spPr>
      </p:pic>
      <p:sp>
        <p:nvSpPr>
          <p:cNvPr id="4" name="Oval 3">
            <a:extLst>
              <a:ext uri="{FF2B5EF4-FFF2-40B4-BE49-F238E27FC236}">
                <a16:creationId xmlns:a16="http://schemas.microsoft.com/office/drawing/2014/main" id="{6BF54DB4-F819-2E52-127B-38FCE60DBC11}"/>
              </a:ext>
            </a:extLst>
          </p:cNvPr>
          <p:cNvSpPr/>
          <p:nvPr/>
        </p:nvSpPr>
        <p:spPr>
          <a:xfrm>
            <a:off x="5417965" y="3149186"/>
            <a:ext cx="3443537" cy="3443537"/>
          </a:xfrm>
          <a:prstGeom prst="ellipse">
            <a:avLst/>
          </a:prstGeom>
          <a:solidFill>
            <a:srgbClr val="92D050">
              <a:alpha val="2068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76A9E4-25EA-697F-2DC0-948E969121A4}"/>
              </a:ext>
            </a:extLst>
          </p:cNvPr>
          <p:cNvSpPr txBox="1"/>
          <p:nvPr/>
        </p:nvSpPr>
        <p:spPr>
          <a:xfrm>
            <a:off x="8861502" y="6164019"/>
            <a:ext cx="9171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t-test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75CB7B-8774-E96D-EBE5-3E7510B1CEEC}"/>
              </a:ext>
            </a:extLst>
          </p:cNvPr>
          <p:cNvSpPr txBox="1"/>
          <p:nvPr/>
        </p:nvSpPr>
        <p:spPr>
          <a:xfrm>
            <a:off x="1921727" y="6164018"/>
            <a:ext cx="1312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wilcoxon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B9E3704-DDFA-F88D-A19D-BA484516435A}"/>
              </a:ext>
            </a:extLst>
          </p:cNvPr>
          <p:cNvSpPr/>
          <p:nvPr/>
        </p:nvSpPr>
        <p:spPr>
          <a:xfrm>
            <a:off x="3330497" y="3182146"/>
            <a:ext cx="3443537" cy="3443537"/>
          </a:xfrm>
          <a:prstGeom prst="ellipse">
            <a:avLst/>
          </a:prstGeom>
          <a:solidFill>
            <a:srgbClr val="0070C0">
              <a:alpha val="2068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C78610-6490-D457-18C4-57D2B656A748}"/>
              </a:ext>
            </a:extLst>
          </p:cNvPr>
          <p:cNvSpPr/>
          <p:nvPr/>
        </p:nvSpPr>
        <p:spPr>
          <a:xfrm>
            <a:off x="4374231" y="2026974"/>
            <a:ext cx="3443537" cy="3443537"/>
          </a:xfrm>
          <a:prstGeom prst="ellipse">
            <a:avLst/>
          </a:prstGeom>
          <a:solidFill>
            <a:srgbClr val="FF0000">
              <a:alpha val="2068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68E6768-5F67-F039-5964-2E594AE99FB9}"/>
              </a:ext>
            </a:extLst>
          </p:cNvPr>
          <p:cNvSpPr/>
          <p:nvPr/>
        </p:nvSpPr>
        <p:spPr>
          <a:xfrm>
            <a:off x="11254842" y="2950304"/>
            <a:ext cx="441963" cy="40039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544D0-BBEB-4E5A-6EDD-EDF415AD14BD}"/>
              </a:ext>
            </a:extLst>
          </p:cNvPr>
          <p:cNvSpPr txBox="1"/>
          <p:nvPr/>
        </p:nvSpPr>
        <p:spPr>
          <a:xfrm>
            <a:off x="5287694" y="1425294"/>
            <a:ext cx="14254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pydeseq2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2C0219-5D14-CD43-ABF8-198AA3C2DBBC}"/>
              </a:ext>
            </a:extLst>
          </p:cNvPr>
          <p:cNvSpPr txBox="1"/>
          <p:nvPr/>
        </p:nvSpPr>
        <p:spPr>
          <a:xfrm>
            <a:off x="5842422" y="2364852"/>
            <a:ext cx="5785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17</a:t>
            </a:r>
            <a:endParaRPr lang="en-RU" sz="24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73C491-4067-82E6-BF84-E4F2C8A002E8}"/>
              </a:ext>
            </a:extLst>
          </p:cNvPr>
          <p:cNvSpPr txBox="1"/>
          <p:nvPr/>
        </p:nvSpPr>
        <p:spPr>
          <a:xfrm>
            <a:off x="5842423" y="4447740"/>
            <a:ext cx="507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11</a:t>
            </a:r>
            <a:endParaRPr lang="en-RU" sz="24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1603C0C-06D4-036D-D16E-446B83F231ED}"/>
              </a:ext>
            </a:extLst>
          </p:cNvPr>
          <p:cNvSpPr txBox="1"/>
          <p:nvPr/>
        </p:nvSpPr>
        <p:spPr>
          <a:xfrm>
            <a:off x="4885659" y="3697121"/>
            <a:ext cx="40203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1</a:t>
            </a:r>
            <a:endParaRPr lang="en-RU" sz="2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75742-62CD-028D-1EB6-6AC9E48C0953}"/>
              </a:ext>
            </a:extLst>
          </p:cNvPr>
          <p:cNvSpPr txBox="1"/>
          <p:nvPr/>
        </p:nvSpPr>
        <p:spPr>
          <a:xfrm>
            <a:off x="6870677" y="3701473"/>
            <a:ext cx="3712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1</a:t>
            </a:r>
            <a:endParaRPr lang="en-RU" sz="2400" b="1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958F35B-05C4-563D-E0A5-7B6CEF525017}"/>
              </a:ext>
            </a:extLst>
          </p:cNvPr>
          <p:cNvSpPr txBox="1"/>
          <p:nvPr/>
        </p:nvSpPr>
        <p:spPr>
          <a:xfrm>
            <a:off x="5842422" y="5470510"/>
            <a:ext cx="507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14</a:t>
            </a:r>
            <a:endParaRPr lang="en-RU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538CDF-0DAE-FFE9-41F3-E3DC0D0A8B7F}"/>
              </a:ext>
            </a:extLst>
          </p:cNvPr>
          <p:cNvSpPr txBox="1"/>
          <p:nvPr/>
        </p:nvSpPr>
        <p:spPr>
          <a:xfrm>
            <a:off x="419836" y="2026974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LINC00926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DCD1BA-30BA-9DEF-641D-676CC2A376FD}"/>
              </a:ext>
            </a:extLst>
          </p:cNvPr>
          <p:cNvSpPr txBox="1"/>
          <p:nvPr/>
        </p:nvSpPr>
        <p:spPr>
          <a:xfrm>
            <a:off x="419835" y="2488639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CD37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E3C58DF-DDC1-6D4D-5E9F-A8F9C6E3A532}"/>
              </a:ext>
            </a:extLst>
          </p:cNvPr>
          <p:cNvSpPr txBox="1"/>
          <p:nvPr/>
        </p:nvSpPr>
        <p:spPr>
          <a:xfrm>
            <a:off x="419833" y="4320752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IGHM</a:t>
            </a:r>
            <a:endParaRPr lang="en-RU" sz="24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5E1570-8E36-A93A-5F48-5BA5A7F34779}"/>
              </a:ext>
            </a:extLst>
          </p:cNvPr>
          <p:cNvSpPr txBox="1"/>
          <p:nvPr/>
        </p:nvSpPr>
        <p:spPr>
          <a:xfrm>
            <a:off x="419833" y="3864663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CD</a:t>
            </a:r>
            <a:r>
              <a:rPr lang="ru-RU" sz="2400" b="1" dirty="0"/>
              <a:t>74</a:t>
            </a:r>
            <a:endParaRPr lang="en-RU" sz="2400" b="1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847349-171C-CB9E-9F51-6182A5A6DFC1}"/>
              </a:ext>
            </a:extLst>
          </p:cNvPr>
          <p:cNvSpPr txBox="1"/>
          <p:nvPr/>
        </p:nvSpPr>
        <p:spPr>
          <a:xfrm>
            <a:off x="419833" y="4776841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IGHD</a:t>
            </a:r>
            <a:endParaRPr lang="en-RU" sz="2400" b="1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F51519-BE1D-5C51-DA61-03039F4F4E4E}"/>
              </a:ext>
            </a:extLst>
          </p:cNvPr>
          <p:cNvSpPr txBox="1"/>
          <p:nvPr/>
        </p:nvSpPr>
        <p:spPr>
          <a:xfrm>
            <a:off x="419832" y="5232930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MS4A1</a:t>
            </a:r>
            <a:endParaRPr lang="en-RU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A7CEB95-7156-E36A-D355-46DB26F67AC3}"/>
              </a:ext>
            </a:extLst>
          </p:cNvPr>
          <p:cNvSpPr txBox="1"/>
          <p:nvPr/>
        </p:nvSpPr>
        <p:spPr>
          <a:xfrm>
            <a:off x="3582709" y="146166"/>
            <a:ext cx="5026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Поиск маркерных генов</a:t>
            </a:r>
            <a:endParaRPr lang="en-RU" sz="3600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F28A7B-0309-0355-CD42-C0F313CD892F}"/>
              </a:ext>
            </a:extLst>
          </p:cNvPr>
          <p:cNvSpPr txBox="1"/>
          <p:nvPr/>
        </p:nvSpPr>
        <p:spPr>
          <a:xfrm>
            <a:off x="5046667" y="792497"/>
            <a:ext cx="209865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PBMC B cells</a:t>
            </a:r>
            <a:endParaRPr lang="en-RU" sz="2800" b="1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D5F445-FF54-F761-0CE0-D85FD88900A1}"/>
              </a:ext>
            </a:extLst>
          </p:cNvPr>
          <p:cNvSpPr txBox="1"/>
          <p:nvPr/>
        </p:nvSpPr>
        <p:spPr>
          <a:xfrm>
            <a:off x="4183508" y="5470510"/>
            <a:ext cx="3814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4</a:t>
            </a:r>
            <a:endParaRPr lang="en-RU" sz="24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4B740-C482-D18D-EE23-929D2407C6A7}"/>
              </a:ext>
            </a:extLst>
          </p:cNvPr>
          <p:cNvSpPr txBox="1"/>
          <p:nvPr/>
        </p:nvSpPr>
        <p:spPr>
          <a:xfrm>
            <a:off x="7448676" y="5463762"/>
            <a:ext cx="3690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4</a:t>
            </a:r>
            <a:endParaRPr lang="en-RU" sz="2400" b="1" dirty="0"/>
          </a:p>
        </p:txBody>
      </p:sp>
    </p:spTree>
    <p:extLst>
      <p:ext uri="{BB962C8B-B14F-4D97-AF65-F5344CB8AC3E}">
        <p14:creationId xmlns:p14="http://schemas.microsoft.com/office/powerpoint/2010/main" val="24711006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D59F3ACD-8CA9-205D-32F2-6FA2DFE9D724}"/>
              </a:ext>
            </a:extLst>
          </p:cNvPr>
          <p:cNvSpPr txBox="1"/>
          <p:nvPr/>
        </p:nvSpPr>
        <p:spPr>
          <a:xfrm>
            <a:off x="3582709" y="146166"/>
            <a:ext cx="5026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Поиск маркерных генов</a:t>
            </a:r>
            <a:endParaRPr lang="en-RU" sz="3600" b="1" dirty="0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D536E743-1B64-01CA-F59E-592CB536B8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15959341"/>
              </p:ext>
            </p:extLst>
          </p:nvPr>
        </p:nvGraphicFramePr>
        <p:xfrm>
          <a:off x="879225" y="1479689"/>
          <a:ext cx="10433535" cy="5303520"/>
        </p:xfrm>
        <a:graphic>
          <a:graphicData uri="http://schemas.openxmlformats.org/drawingml/2006/table">
            <a:tbl>
              <a:tblPr firstRow="1" bandRow="1">
                <a:tableStyleId>{912C8C85-51F0-491E-9774-3900AFEF0FD7}</a:tableStyleId>
              </a:tblPr>
              <a:tblGrid>
                <a:gridCol w="1490505">
                  <a:extLst>
                    <a:ext uri="{9D8B030D-6E8A-4147-A177-3AD203B41FA5}">
                      <a16:colId xmlns:a16="http://schemas.microsoft.com/office/drawing/2014/main" val="1035433411"/>
                    </a:ext>
                  </a:extLst>
                </a:gridCol>
                <a:gridCol w="1490505">
                  <a:extLst>
                    <a:ext uri="{9D8B030D-6E8A-4147-A177-3AD203B41FA5}">
                      <a16:colId xmlns:a16="http://schemas.microsoft.com/office/drawing/2014/main" val="3934688148"/>
                    </a:ext>
                  </a:extLst>
                </a:gridCol>
                <a:gridCol w="1490505">
                  <a:extLst>
                    <a:ext uri="{9D8B030D-6E8A-4147-A177-3AD203B41FA5}">
                      <a16:colId xmlns:a16="http://schemas.microsoft.com/office/drawing/2014/main" val="2047520077"/>
                    </a:ext>
                  </a:extLst>
                </a:gridCol>
                <a:gridCol w="1490505">
                  <a:extLst>
                    <a:ext uri="{9D8B030D-6E8A-4147-A177-3AD203B41FA5}">
                      <a16:colId xmlns:a16="http://schemas.microsoft.com/office/drawing/2014/main" val="2665858943"/>
                    </a:ext>
                  </a:extLst>
                </a:gridCol>
                <a:gridCol w="1490505">
                  <a:extLst>
                    <a:ext uri="{9D8B030D-6E8A-4147-A177-3AD203B41FA5}">
                      <a16:colId xmlns:a16="http://schemas.microsoft.com/office/drawing/2014/main" val="1965291516"/>
                    </a:ext>
                  </a:extLst>
                </a:gridCol>
                <a:gridCol w="1490505">
                  <a:extLst>
                    <a:ext uri="{9D8B030D-6E8A-4147-A177-3AD203B41FA5}">
                      <a16:colId xmlns:a16="http://schemas.microsoft.com/office/drawing/2014/main" val="3784351267"/>
                    </a:ext>
                  </a:extLst>
                </a:gridCol>
                <a:gridCol w="1490505">
                  <a:extLst>
                    <a:ext uri="{9D8B030D-6E8A-4147-A177-3AD203B41FA5}">
                      <a16:colId xmlns:a16="http://schemas.microsoft.com/office/drawing/2014/main" val="315500938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Т-тест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Манна-Уитни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RU" sz="2000" dirty="0">
                          <a:solidFill>
                            <a:schemeClr val="tx1"/>
                          </a:solidFill>
                        </a:rPr>
                        <a:t>pydeseq2</a:t>
                      </a: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1964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В клетки (кластер 1)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12/30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12/30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40%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11/30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37%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943915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В клетки (кластер 10)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6/30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20%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9/30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7/30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23%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042467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Т клетки (кластер 0)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9/30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10/30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33%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1/30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3%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31339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Т клетки (кластер 3)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8/30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9/30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 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927795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Макрофаги (кластер 2)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5/30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17%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8/30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27%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4/30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13%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8657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Макрофаги (кластер 12)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6/30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20%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6/30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20%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0/30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dirty="0">
                          <a:solidFill>
                            <a:schemeClr val="tx1"/>
                          </a:solidFill>
                        </a:rPr>
                        <a:t>0%</a:t>
                      </a:r>
                      <a:endParaRPr lang="en-RU" sz="2000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26560226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RU" sz="2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RU" sz="2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</a:rPr>
                        <a:t>26%</a:t>
                      </a:r>
                      <a:endParaRPr lang="en-RU" sz="2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RU" sz="2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</a:rPr>
                        <a:t>30%</a:t>
                      </a:r>
                      <a:endParaRPr lang="en-RU" sz="2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endParaRPr lang="en-RU" sz="2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ru-RU" sz="2000" b="1" dirty="0">
                          <a:solidFill>
                            <a:schemeClr val="tx1"/>
                          </a:solidFill>
                        </a:rPr>
                        <a:t>13%</a:t>
                      </a:r>
                      <a:endParaRPr lang="en-RU" sz="20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6739973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390372DD-B564-93CA-0AAB-B37EAB98D015}"/>
              </a:ext>
            </a:extLst>
          </p:cNvPr>
          <p:cNvSpPr txBox="1"/>
          <p:nvPr/>
        </p:nvSpPr>
        <p:spPr>
          <a:xfrm>
            <a:off x="5554820" y="874483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PBMC</a:t>
            </a:r>
            <a:endParaRPr lang="en-RU" sz="2800" b="1" dirty="0"/>
          </a:p>
        </p:txBody>
      </p:sp>
    </p:spTree>
    <p:extLst>
      <p:ext uri="{BB962C8B-B14F-4D97-AF65-F5344CB8AC3E}">
        <p14:creationId xmlns:p14="http://schemas.microsoft.com/office/powerpoint/2010/main" val="27098724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B5EBEA1-9809-18FD-8A10-E399E9116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67531" y="1672098"/>
            <a:ext cx="6256925" cy="472364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5A29409-3270-6B7E-01A5-0DB1CFBE61D5}"/>
              </a:ext>
            </a:extLst>
          </p:cNvPr>
          <p:cNvSpPr txBox="1"/>
          <p:nvPr/>
        </p:nvSpPr>
        <p:spPr>
          <a:xfrm>
            <a:off x="3582711" y="228152"/>
            <a:ext cx="502656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Поиск маркерных генов</a:t>
            </a:r>
            <a:endParaRPr lang="en-RU" sz="3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653A868-F7DF-2B80-39E5-B711E8BF2E2B}"/>
              </a:ext>
            </a:extLst>
          </p:cNvPr>
          <p:cNvSpPr txBox="1"/>
          <p:nvPr/>
        </p:nvSpPr>
        <p:spPr>
          <a:xfrm>
            <a:off x="5554820" y="874483"/>
            <a:ext cx="108234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/>
              <a:t>PBMC</a:t>
            </a:r>
            <a:endParaRPr lang="en-RU" sz="2800" b="1" dirty="0"/>
          </a:p>
        </p:txBody>
      </p:sp>
    </p:spTree>
    <p:extLst>
      <p:ext uri="{BB962C8B-B14F-4D97-AF65-F5344CB8AC3E}">
        <p14:creationId xmlns:p14="http://schemas.microsoft.com/office/powerpoint/2010/main" val="18463369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BF54DB4-F819-2E52-127B-38FCE60DBC11}"/>
              </a:ext>
            </a:extLst>
          </p:cNvPr>
          <p:cNvSpPr/>
          <p:nvPr/>
        </p:nvSpPr>
        <p:spPr>
          <a:xfrm>
            <a:off x="5417965" y="3149186"/>
            <a:ext cx="3443537" cy="3443537"/>
          </a:xfrm>
          <a:prstGeom prst="ellipse">
            <a:avLst/>
          </a:prstGeom>
          <a:solidFill>
            <a:srgbClr val="92D050">
              <a:alpha val="2068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C76A9E4-25EA-697F-2DC0-948E969121A4}"/>
              </a:ext>
            </a:extLst>
          </p:cNvPr>
          <p:cNvSpPr txBox="1"/>
          <p:nvPr/>
        </p:nvSpPr>
        <p:spPr>
          <a:xfrm>
            <a:off x="8861502" y="6164019"/>
            <a:ext cx="9171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t-test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D75CB7B-8774-E96D-EBE5-3E7510B1CEEC}"/>
              </a:ext>
            </a:extLst>
          </p:cNvPr>
          <p:cNvSpPr txBox="1"/>
          <p:nvPr/>
        </p:nvSpPr>
        <p:spPr>
          <a:xfrm>
            <a:off x="1921727" y="6164018"/>
            <a:ext cx="13121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wilcoxon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B9E3704-DDFA-F88D-A19D-BA484516435A}"/>
              </a:ext>
            </a:extLst>
          </p:cNvPr>
          <p:cNvSpPr/>
          <p:nvPr/>
        </p:nvSpPr>
        <p:spPr>
          <a:xfrm>
            <a:off x="3330497" y="3182146"/>
            <a:ext cx="3443537" cy="3443537"/>
          </a:xfrm>
          <a:prstGeom prst="ellipse">
            <a:avLst/>
          </a:prstGeom>
          <a:solidFill>
            <a:srgbClr val="0070C0">
              <a:alpha val="2068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2DC78610-6490-D457-18C4-57D2B656A748}"/>
              </a:ext>
            </a:extLst>
          </p:cNvPr>
          <p:cNvSpPr/>
          <p:nvPr/>
        </p:nvSpPr>
        <p:spPr>
          <a:xfrm>
            <a:off x="4374231" y="2026974"/>
            <a:ext cx="3443537" cy="3443537"/>
          </a:xfrm>
          <a:prstGeom prst="ellipse">
            <a:avLst/>
          </a:prstGeom>
          <a:solidFill>
            <a:srgbClr val="FF0000">
              <a:alpha val="20683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E544D0-BBEB-4E5A-6EDD-EDF415AD14BD}"/>
              </a:ext>
            </a:extLst>
          </p:cNvPr>
          <p:cNvSpPr txBox="1"/>
          <p:nvPr/>
        </p:nvSpPr>
        <p:spPr>
          <a:xfrm>
            <a:off x="5287694" y="1425294"/>
            <a:ext cx="14254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pydeseq2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2C0219-5D14-CD43-ABF8-198AA3C2DBBC}"/>
              </a:ext>
            </a:extLst>
          </p:cNvPr>
          <p:cNvSpPr txBox="1"/>
          <p:nvPr/>
        </p:nvSpPr>
        <p:spPr>
          <a:xfrm>
            <a:off x="5696422" y="2386681"/>
            <a:ext cx="79914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7251</a:t>
            </a:r>
            <a:endParaRPr lang="en-RU" sz="2400" b="1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216476C-C0D6-9D42-75A9-EB72A6466D6C}"/>
              </a:ext>
            </a:extLst>
          </p:cNvPr>
          <p:cNvSpPr txBox="1"/>
          <p:nvPr/>
        </p:nvSpPr>
        <p:spPr>
          <a:xfrm>
            <a:off x="7628108" y="5470511"/>
            <a:ext cx="3793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1</a:t>
            </a:r>
            <a:endParaRPr lang="en-RU" sz="2400" b="1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873C491-4067-82E6-BF84-E4F2C8A002E8}"/>
              </a:ext>
            </a:extLst>
          </p:cNvPr>
          <p:cNvSpPr txBox="1"/>
          <p:nvPr/>
        </p:nvSpPr>
        <p:spPr>
          <a:xfrm>
            <a:off x="5842423" y="4447740"/>
            <a:ext cx="50714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24</a:t>
            </a:r>
            <a:endParaRPr lang="en-RU" sz="2400" b="1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675742-62CD-028D-1EB6-6AC9E48C0953}"/>
              </a:ext>
            </a:extLst>
          </p:cNvPr>
          <p:cNvSpPr txBox="1"/>
          <p:nvPr/>
        </p:nvSpPr>
        <p:spPr>
          <a:xfrm>
            <a:off x="6774034" y="3697121"/>
            <a:ext cx="5683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/>
              <a:t>70</a:t>
            </a:r>
            <a:endParaRPr lang="en-RU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A538CDF-0DAE-FFE9-41F3-E3DC0D0A8B7F}"/>
              </a:ext>
            </a:extLst>
          </p:cNvPr>
          <p:cNvSpPr txBox="1"/>
          <p:nvPr/>
        </p:nvSpPr>
        <p:spPr>
          <a:xfrm>
            <a:off x="419836" y="2026974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DUOX2</a:t>
            </a:r>
            <a:endParaRPr lang="en-RU" sz="2400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EF78F69-58DC-CB68-C2F7-97EAB7CD3AEE}"/>
              </a:ext>
            </a:extLst>
          </p:cNvPr>
          <p:cNvSpPr txBox="1"/>
          <p:nvPr/>
        </p:nvSpPr>
        <p:spPr>
          <a:xfrm>
            <a:off x="419836" y="2488639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CD55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6C7718C-810C-E820-E57F-5397F84EE6F2}"/>
              </a:ext>
            </a:extLst>
          </p:cNvPr>
          <p:cNvSpPr txBox="1"/>
          <p:nvPr/>
        </p:nvSpPr>
        <p:spPr>
          <a:xfrm>
            <a:off x="418298" y="2950304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PI3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9847F4E-2E63-93FB-6FD4-429C4081E636}"/>
              </a:ext>
            </a:extLst>
          </p:cNvPr>
          <p:cNvSpPr txBox="1"/>
          <p:nvPr/>
        </p:nvSpPr>
        <p:spPr>
          <a:xfrm>
            <a:off x="418298" y="3411969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ALDOB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46FB42-05AF-3250-8F17-C745FC69D820}"/>
              </a:ext>
            </a:extLst>
          </p:cNvPr>
          <p:cNvSpPr txBox="1"/>
          <p:nvPr/>
        </p:nvSpPr>
        <p:spPr>
          <a:xfrm>
            <a:off x="418298" y="3873634"/>
            <a:ext cx="154108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RU" sz="2400" b="1" dirty="0"/>
              <a:t>DUOXA2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930BBFB-CA69-03F4-89FF-3CDD3E116AF7}"/>
              </a:ext>
            </a:extLst>
          </p:cNvPr>
          <p:cNvSpPr txBox="1"/>
          <p:nvPr/>
        </p:nvSpPr>
        <p:spPr>
          <a:xfrm>
            <a:off x="882164" y="265277"/>
            <a:ext cx="1042766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Сравнение экспрессии между разными условиями</a:t>
            </a:r>
            <a:endParaRPr lang="en-RU" sz="3600" b="1" dirty="0"/>
          </a:p>
        </p:txBody>
      </p:sp>
    </p:spTree>
    <p:extLst>
      <p:ext uri="{BB962C8B-B14F-4D97-AF65-F5344CB8AC3E}">
        <p14:creationId xmlns:p14="http://schemas.microsoft.com/office/powerpoint/2010/main" val="35575854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0667547-514D-6B14-BCC5-AE0A9FA60883}"/>
              </a:ext>
            </a:extLst>
          </p:cNvPr>
          <p:cNvSpPr txBox="1"/>
          <p:nvPr/>
        </p:nvSpPr>
        <p:spPr>
          <a:xfrm>
            <a:off x="4884225" y="239441"/>
            <a:ext cx="242354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Результаты</a:t>
            </a:r>
            <a:endParaRPr lang="en-RU" sz="36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34EC84-BAAF-FDD1-5CD3-C9CD64F1232C}"/>
              </a:ext>
            </a:extLst>
          </p:cNvPr>
          <p:cNvSpPr txBox="1"/>
          <p:nvPr/>
        </p:nvSpPr>
        <p:spPr>
          <a:xfrm>
            <a:off x="299154" y="1012954"/>
            <a:ext cx="11593690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ru-RU" sz="2800" b="1" dirty="0"/>
              <a:t>Результаты Т-теста и теста Манна-Уитни хорошо согласуются между собой в обоих экспериментах. Тест Манна-Уитни показывает чуть лучше результат в эксперименте по поиску маркерных генов. При этом т-тест показывает лучшую мощность в эксперименте сравнения экспрессии между условиями. Результаты </a:t>
            </a:r>
            <a:r>
              <a:rPr lang="en-US" sz="2800" b="1" dirty="0"/>
              <a:t>pydeseq2 </a:t>
            </a:r>
            <a:r>
              <a:rPr lang="ru-RU" sz="2800" b="1" dirty="0"/>
              <a:t>достаточно плохо согласуются в эксперименте поиска маркеров типов клеток (≤50%), однако </a:t>
            </a:r>
            <a:r>
              <a:rPr lang="en-US" sz="2800" b="1" dirty="0"/>
              <a:t>pydeseq2</a:t>
            </a:r>
            <a:r>
              <a:rPr lang="ru-RU" sz="2800" b="1" dirty="0"/>
              <a:t> показывает лучшую мощность (эффективность) в эксперименте по сравнению экспрессии между условиями (найдено больше статистически значимо изменивших свою экспрессию генов)</a:t>
            </a:r>
            <a:endParaRPr lang="en-US" sz="2800" b="1" dirty="0"/>
          </a:p>
          <a:p>
            <a:pPr marL="342900" indent="-342900">
              <a:buFont typeface="+mj-lt"/>
              <a:buAutoNum type="arabicPeriod"/>
            </a:pPr>
            <a:endParaRPr lang="en-US" sz="2800" b="1" dirty="0"/>
          </a:p>
          <a:p>
            <a:pPr marL="342900" indent="-342900">
              <a:buFont typeface="+mj-lt"/>
              <a:buAutoNum type="arabicPeriod"/>
            </a:pPr>
            <a:r>
              <a:rPr lang="ru-RU" sz="2800" b="1" dirty="0"/>
              <a:t>Производительность: Т-тест </a:t>
            </a:r>
            <a:r>
              <a:rPr lang="en-US" sz="2800" b="1" dirty="0"/>
              <a:t>&gt; </a:t>
            </a:r>
            <a:r>
              <a:rPr lang="ru-RU" sz="2800" b="1" dirty="0"/>
              <a:t>Манна-Уитни </a:t>
            </a:r>
            <a:r>
              <a:rPr lang="en-US" sz="2800" b="1" dirty="0"/>
              <a:t>&gt;&gt; pydeseq2</a:t>
            </a:r>
            <a:endParaRPr lang="en-RU" sz="28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9AC72-DE93-FB2C-E528-9A2447BCCC26}"/>
              </a:ext>
            </a:extLst>
          </p:cNvPr>
          <p:cNvSpPr txBox="1"/>
          <p:nvPr/>
        </p:nvSpPr>
        <p:spPr>
          <a:xfrm>
            <a:off x="1038578" y="6550223"/>
            <a:ext cx="111534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i="0" dirty="0">
                <a:effectLst/>
                <a:latin typeface="Merriweather Sans" panose="020F0502020204030204" pitchFamily="34" charset="0"/>
              </a:rPr>
              <a:t>Jeffrey M. Pullin &amp; Davis J. McCarthy</a:t>
            </a:r>
            <a:r>
              <a:rPr lang="ru-RU" sz="1400" b="1" dirty="0">
                <a:latin typeface="Merriweather Sans" panose="020F0502020204030204" pitchFamily="34" charset="0"/>
              </a:rPr>
              <a:t>. «</a:t>
            </a:r>
            <a:r>
              <a:rPr lang="en-GB" sz="1400" b="1" i="0" dirty="0">
                <a:effectLst/>
                <a:latin typeface="Merriweather Sans" panose="020F0502020204030204" pitchFamily="34" charset="0"/>
              </a:rPr>
              <a:t>A comparison of marker gene selection methods for single-cell RNA sequencing data</a:t>
            </a:r>
            <a:r>
              <a:rPr lang="ru-RU" sz="1400" b="1" i="0" dirty="0">
                <a:effectLst/>
                <a:latin typeface="Merriweather Sans" panose="020F0502020204030204" pitchFamily="34" charset="0"/>
              </a:rPr>
              <a:t>»</a:t>
            </a:r>
            <a:endParaRPr lang="en-GB" sz="1400" b="1" i="0" dirty="0">
              <a:effectLst/>
              <a:latin typeface="Merriweather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0293095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E2A7EA-A58C-CD3B-9964-4B2920005D96}"/>
              </a:ext>
            </a:extLst>
          </p:cNvPr>
          <p:cNvSpPr txBox="1"/>
          <p:nvPr/>
        </p:nvSpPr>
        <p:spPr>
          <a:xfrm>
            <a:off x="5179050" y="205574"/>
            <a:ext cx="1833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Выводы</a:t>
            </a:r>
            <a:endParaRPr lang="en-RU" sz="3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DD5EFF-29B4-9F38-D2F5-5ACE0FD4DE2E}"/>
              </a:ext>
            </a:extLst>
          </p:cNvPr>
          <p:cNvSpPr txBox="1"/>
          <p:nvPr/>
        </p:nvSpPr>
        <p:spPr>
          <a:xfrm>
            <a:off x="519289" y="2316068"/>
            <a:ext cx="11153422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Для поиска маркерных генов (аннотирования) можно использовать как т-тест, так и тест Манна-Уитни. Однако для сравнения условий, лучше использовать отрицательно биномиальные модели </a:t>
            </a:r>
            <a:r>
              <a:rPr lang="en-US" sz="2800" b="1" dirty="0"/>
              <a:t>(pydeseq2)</a:t>
            </a:r>
            <a:endParaRPr lang="en-RU" sz="2800" b="1" dirty="0"/>
          </a:p>
        </p:txBody>
      </p:sp>
    </p:spTree>
    <p:extLst>
      <p:ext uri="{BB962C8B-B14F-4D97-AF65-F5344CB8AC3E}">
        <p14:creationId xmlns:p14="http://schemas.microsoft.com/office/powerpoint/2010/main" val="36346724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59E2A7EA-A58C-CD3B-9964-4B2920005D96}"/>
              </a:ext>
            </a:extLst>
          </p:cNvPr>
          <p:cNvSpPr txBox="1"/>
          <p:nvPr/>
        </p:nvSpPr>
        <p:spPr>
          <a:xfrm>
            <a:off x="5179050" y="205574"/>
            <a:ext cx="183390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3600" b="1" dirty="0"/>
              <a:t>Выводы</a:t>
            </a:r>
            <a:endParaRPr lang="en-RU" sz="36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CDD5EFF-29B4-9F38-D2F5-5ACE0FD4DE2E}"/>
              </a:ext>
            </a:extLst>
          </p:cNvPr>
          <p:cNvSpPr txBox="1"/>
          <p:nvPr/>
        </p:nvSpPr>
        <p:spPr>
          <a:xfrm>
            <a:off x="519289" y="2305615"/>
            <a:ext cx="1115342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b="1" dirty="0"/>
              <a:t>Для быстрого поиска маркерных генов (аннотирования) можно использовать как т-тест, так и тест Манна-Уитни. Однако, если нужно провести более тщательный анализ, особенно если типы клеток близкие и для сравнения условий, лучше использовать отрицательно биномиальные модели </a:t>
            </a:r>
            <a:r>
              <a:rPr lang="en-US" sz="2800" b="1" dirty="0"/>
              <a:t>(pydeseq2)</a:t>
            </a:r>
            <a:endParaRPr lang="en-RU" sz="28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BEBE15C-4B9F-CF04-4E1A-53734E494487}"/>
              </a:ext>
            </a:extLst>
          </p:cNvPr>
          <p:cNvSpPr txBox="1"/>
          <p:nvPr/>
        </p:nvSpPr>
        <p:spPr>
          <a:xfrm>
            <a:off x="1038578" y="6550223"/>
            <a:ext cx="1115342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i="0" dirty="0">
                <a:effectLst/>
                <a:latin typeface="Merriweather Sans" panose="020F0502020204030204" pitchFamily="34" charset="0"/>
              </a:rPr>
              <a:t>Jeffrey M. Pullin &amp; Davis J. McCarthy</a:t>
            </a:r>
            <a:r>
              <a:rPr lang="ru-RU" sz="1400" b="1" dirty="0">
                <a:latin typeface="Merriweather Sans" panose="020F0502020204030204" pitchFamily="34" charset="0"/>
              </a:rPr>
              <a:t>. «</a:t>
            </a:r>
            <a:r>
              <a:rPr lang="en-GB" sz="1400" b="1" i="0" dirty="0">
                <a:effectLst/>
                <a:latin typeface="Merriweather Sans" panose="020F0502020204030204" pitchFamily="34" charset="0"/>
              </a:rPr>
              <a:t>A comparison of marker gene selection methods for single-cell RNA sequencing data</a:t>
            </a:r>
            <a:r>
              <a:rPr lang="ru-RU" sz="1400" b="1" i="0" dirty="0">
                <a:effectLst/>
                <a:latin typeface="Merriweather Sans" panose="020F0502020204030204" pitchFamily="34" charset="0"/>
              </a:rPr>
              <a:t>»</a:t>
            </a:r>
            <a:endParaRPr lang="en-GB" sz="1400" b="1" i="0" dirty="0">
              <a:effectLst/>
              <a:latin typeface="Merriweather Sans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331351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1561</TotalTime>
  <Words>412</Words>
  <Application>Microsoft Macintosh PowerPoint</Application>
  <PresentationFormat>Widescreen</PresentationFormat>
  <Paragraphs>106</Paragraphs>
  <Slides>11</Slides>
  <Notes>0</Notes>
  <HiddenSlides>1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7" baseType="lpstr">
      <vt:lpstr>-apple-system</vt:lpstr>
      <vt:lpstr>Arial</vt:lpstr>
      <vt:lpstr>Calibri</vt:lpstr>
      <vt:lpstr>Calibri Light</vt:lpstr>
      <vt:lpstr>Merriweather Sans</vt:lpstr>
      <vt:lpstr>Office Theme</vt:lpstr>
      <vt:lpstr>Дифференциальная экспрессия   Отрицательные биномиальные модели  vs. Т-тест  vs. Тест Манна-Уитни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Артем Карпушов</dc:creator>
  <cp:lastModifiedBy>Артем Карпушов</cp:lastModifiedBy>
  <cp:revision>160</cp:revision>
  <dcterms:created xsi:type="dcterms:W3CDTF">2025-11-23T10:23:40Z</dcterms:created>
  <dcterms:modified xsi:type="dcterms:W3CDTF">2025-12-15T14:12:32Z</dcterms:modified>
</cp:coreProperties>
</file>