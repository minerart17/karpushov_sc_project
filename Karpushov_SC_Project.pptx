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4" r:id="rId5"/>
    <p:sldId id="257" r:id="rId6"/>
    <p:sldId id="258" r:id="rId7"/>
    <p:sldId id="259" r:id="rId8"/>
    <p:sldId id="262" r:id="rId9"/>
    <p:sldId id="263" r:id="rId1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/>
    <p:restoredTop sz="94673"/>
  </p:normalViewPr>
  <p:slideViewPr>
    <p:cSldViewPr snapToGrid="0">
      <p:cViewPr varScale="1">
        <p:scale>
          <a:sx n="109" d="100"/>
          <a:sy n="109" d="100"/>
        </p:scale>
        <p:origin x="208" y="3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D63D-4D68-0FBD-36F0-BA633349E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0CEBB-77BF-65F7-F9AB-83B3E7E47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5623F-FE84-9090-505A-96F8A972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2F42E-F0F9-E677-967F-A640B134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1E82C-3974-0B1C-97CA-5CADCBE5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4244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B2DE-41F9-BEA8-52E1-D1A0FEFB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4C6DC-D3A8-F967-8530-36CD4C6B9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799F6-754D-8886-81DE-A22F6061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5DA15-154C-F0EE-74C2-0257EF8D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CBC1B-F6AF-1E95-F668-EDE93BCE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90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22D8-990C-F3F7-58B3-431EE7DF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B7AF-FF42-5E7D-D6E1-84540104D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D0B02-6D49-8AF5-4924-5120A32B5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2EAD8-AF21-EB69-2057-4986DF53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B186B-E70F-7D67-8131-D7515443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3738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E49D-113F-1B51-DCDD-673C8131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C2E32-D4DE-B0F9-4B32-82D01B6A6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94034-EEC1-A23F-1057-964D7B0F7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3C17D-6A6F-8FEB-2A26-B3A98253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ECF2-087F-AAFC-1D17-707AB2C6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A7887-98F0-B0BB-EA00-6D2C27A49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6895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C98B-D0E5-8E1A-5E83-AE85448C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2CEC6-74A4-1191-D876-37303DAC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DC05D-0440-076B-A737-B0F33DBAA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FE0C9-A40F-DE99-D9B8-BCAA90E05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1EAFD-AABD-C14E-5AA0-B4DD97227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F97C6-95C4-9BC8-7B05-E3A327B6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2D9E8-248E-2C23-89AB-19AD2ECE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8A3767-C8F5-DAA7-CCF5-B6585746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45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4D5D-FBEE-005E-7E5C-0674278C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4638-D5D6-C964-149B-A74CE227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88A28-0102-CE7C-CD1A-31E40C88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9695B-7943-AE82-5F21-82B0BDBD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5026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C0C2C-EA8C-EA8B-0FE1-EA538807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2911D-A2AA-B1CC-D27B-4854F107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AED8D-8568-91EF-0B39-C8AF0EBF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3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F862-8103-0FE8-9C0D-1B138E7A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DEA61-B0F5-F4D5-5BE9-6962D1A1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C13FB-9E22-761B-1D1A-50574C4D8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9B312-0EA2-4DB3-AEAA-A8D80ABA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8B39C-FCB3-EDD0-6FDF-0893CC83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01A5F-22E6-A5B8-C9B2-62578CC7D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3859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2D117-8169-D9B4-0B43-B4D3AB79A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C460B-A004-816D-C89B-9096C0341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603D-EE6B-A832-DC4C-B06A498D3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5DD6F-30BE-599D-4F70-7B3D2093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7B54E-57AE-4CA4-A246-D2EEC16C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DC243-DBF2-98E1-9059-F0D9355D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8610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4AC9-A6B2-ADD3-5056-F16F0275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C20A5-B9F7-C7A1-E546-3103D296D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22E2F-2BBC-75ED-A6AE-3A8E2AF68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994E4-5060-8078-23D6-B337A646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A34B-DD9E-FBF0-297A-F17C4928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7998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4729B-1F11-D303-3F1D-680DAD8E4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B7958-A092-8558-0A45-D19D96A49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AB645-30E2-1698-602F-C9CF9DCF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3EC78-F1E7-AC4B-DA26-4393288A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BEF9B-977D-0C13-F1F9-13EF194C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2708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BA99B-BD81-08B7-B08B-27C4FCB1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AD12D-A404-4EA4-ADC3-0F5A26344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A49E2-1ACD-9A5D-420B-35DEE7C71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360A3-169E-454E-B672-17C6FB7E431E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D77D4-4F26-1137-68DD-14B831AF2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8359F-23C0-3E51-878E-5FCC81207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2BEA9-58D1-9D40-895B-C69F4CD1B20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9395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A9A5-739E-196E-37EB-85A07EE08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8518"/>
            <a:ext cx="12192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b="1" i="0" dirty="0">
                <a:effectLst/>
                <a:latin typeface="-apple-system"/>
              </a:rPr>
              <a:t>Дифференциальная экспрессия </a:t>
            </a:r>
            <a:br>
              <a:rPr lang="ru-RU" b="1" i="0" dirty="0">
                <a:effectLst/>
                <a:latin typeface="-apple-system"/>
              </a:rPr>
            </a:br>
            <a:br>
              <a:rPr lang="ru-RU" b="1" i="0" dirty="0">
                <a:effectLst/>
                <a:latin typeface="-apple-system"/>
              </a:rPr>
            </a:br>
            <a:r>
              <a:rPr lang="ru-RU" b="1" i="0" dirty="0">
                <a:effectLst/>
                <a:latin typeface="-apple-system"/>
              </a:rPr>
              <a:t>Отрицательные биномиальные модели </a:t>
            </a:r>
            <a:br>
              <a:rPr lang="ru-RU" b="1" i="0" dirty="0">
                <a:effectLst/>
                <a:latin typeface="-apple-system"/>
              </a:rPr>
            </a:br>
            <a:r>
              <a:rPr lang="en-US" b="1" i="0" dirty="0">
                <a:effectLst/>
                <a:latin typeface="-apple-system"/>
              </a:rPr>
              <a:t>vs. </a:t>
            </a:r>
            <a:r>
              <a:rPr lang="ru-RU" b="1" i="0" dirty="0">
                <a:effectLst/>
                <a:latin typeface="-apple-system"/>
              </a:rPr>
              <a:t>Т-тест </a:t>
            </a:r>
            <a:br>
              <a:rPr lang="ru-RU" b="1" i="0" dirty="0">
                <a:effectLst/>
                <a:latin typeface="-apple-system"/>
              </a:rPr>
            </a:br>
            <a:r>
              <a:rPr lang="en-US" b="1" i="0" dirty="0">
                <a:effectLst/>
                <a:latin typeface="-apple-system"/>
              </a:rPr>
              <a:t>vs. </a:t>
            </a:r>
            <a:r>
              <a:rPr lang="ru-RU" b="1" i="0" dirty="0">
                <a:effectLst/>
                <a:latin typeface="-apple-system"/>
              </a:rPr>
              <a:t>Тест Манна-Уитни</a:t>
            </a:r>
            <a:endParaRPr lang="en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0B245-84AB-7961-91EE-9495E1107110}"/>
              </a:ext>
            </a:extLst>
          </p:cNvPr>
          <p:cNvSpPr txBox="1"/>
          <p:nvPr/>
        </p:nvSpPr>
        <p:spPr>
          <a:xfrm>
            <a:off x="5341627" y="6287946"/>
            <a:ext cx="1677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Москва, 2025</a:t>
            </a:r>
            <a:endParaRPr lang="en-RU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93D7F-5274-99D4-C2B3-1E5A8784D0ED}"/>
              </a:ext>
            </a:extLst>
          </p:cNvPr>
          <p:cNvSpPr txBox="1"/>
          <p:nvPr/>
        </p:nvSpPr>
        <p:spPr>
          <a:xfrm>
            <a:off x="7382368" y="4821533"/>
            <a:ext cx="4349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b="1" dirty="0" err="1"/>
              <a:t>Карпушов</a:t>
            </a:r>
            <a:r>
              <a:rPr lang="ru-RU" sz="2400" b="1" dirty="0"/>
              <a:t> Артём</a:t>
            </a:r>
          </a:p>
          <a:p>
            <a:pPr algn="r"/>
            <a:r>
              <a:rPr lang="ru-RU" sz="2400" b="1" dirty="0"/>
              <a:t>Геномика и здоровье человека</a:t>
            </a:r>
            <a:endParaRPr lang="en-RU" sz="2400" b="1" dirty="0"/>
          </a:p>
        </p:txBody>
      </p:sp>
    </p:spTree>
    <p:extLst>
      <p:ext uri="{BB962C8B-B14F-4D97-AF65-F5344CB8AC3E}">
        <p14:creationId xmlns:p14="http://schemas.microsoft.com/office/powerpoint/2010/main" val="81949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EF490-7EBC-BCCC-0C21-845BB15CCC24}"/>
              </a:ext>
            </a:extLst>
          </p:cNvPr>
          <p:cNvSpPr txBox="1"/>
          <p:nvPr/>
        </p:nvSpPr>
        <p:spPr>
          <a:xfrm>
            <a:off x="370746" y="1182231"/>
            <a:ext cx="114505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Основные методы для анализа дифференциальной экспрессии</a:t>
            </a:r>
            <a:endParaRPr lang="en-US" sz="2800" b="1" dirty="0"/>
          </a:p>
          <a:p>
            <a:endParaRPr lang="ru-R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Параметрический т-тест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Непараметрический тест Манна-Уитни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Модели отрицательного биномиального распределения (</a:t>
            </a:r>
            <a:r>
              <a:rPr lang="en-US" sz="2800" b="1" dirty="0"/>
              <a:t>pydeseq2)</a:t>
            </a:r>
            <a:endParaRPr lang="en-RU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F65FF7-9178-B997-9750-958425484885}"/>
              </a:ext>
            </a:extLst>
          </p:cNvPr>
          <p:cNvSpPr txBox="1"/>
          <p:nvPr/>
        </p:nvSpPr>
        <p:spPr>
          <a:xfrm>
            <a:off x="5028624" y="225778"/>
            <a:ext cx="2134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Введение</a:t>
            </a:r>
            <a:endParaRPr lang="en-RU" sz="3600" b="1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4C53E5E-54CF-18E8-E305-C7D90C438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11" y="3906096"/>
            <a:ext cx="3675066" cy="276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7C8D321B-43D5-E06C-5C6C-B6DEDD53D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977" y="3906096"/>
            <a:ext cx="3685288" cy="276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53070D3F-BDA7-E8F2-3A36-3CEA16C7A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465" y="3906095"/>
            <a:ext cx="2760133" cy="276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90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DBFCA-161B-9501-1BC6-53EF9325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61" y="1713130"/>
            <a:ext cx="11331073" cy="45832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063E56-CD0A-4774-7009-14AEA0D5E985}"/>
              </a:ext>
            </a:extLst>
          </p:cNvPr>
          <p:cNvSpPr txBox="1"/>
          <p:nvPr/>
        </p:nvSpPr>
        <p:spPr>
          <a:xfrm>
            <a:off x="239363" y="129822"/>
            <a:ext cx="11713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Модели отрицательного биномиального распределения </a:t>
            </a:r>
          </a:p>
          <a:p>
            <a:pPr algn="ctr"/>
            <a:r>
              <a:rPr lang="ru-RU" sz="3600" b="1" dirty="0"/>
              <a:t>(</a:t>
            </a:r>
            <a:r>
              <a:rPr lang="en-US" sz="3600" b="1" dirty="0"/>
              <a:t>pydeseq2)</a:t>
            </a:r>
            <a:endParaRPr lang="en-RU" sz="3600" b="1" dirty="0"/>
          </a:p>
        </p:txBody>
      </p:sp>
    </p:spTree>
    <p:extLst>
      <p:ext uri="{BB962C8B-B14F-4D97-AF65-F5344CB8AC3E}">
        <p14:creationId xmlns:p14="http://schemas.microsoft.com/office/powerpoint/2010/main" val="37333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0CC651-91EB-59A5-55C3-9FEDC6FBF765}"/>
              </a:ext>
            </a:extLst>
          </p:cNvPr>
          <p:cNvGrpSpPr/>
          <p:nvPr/>
        </p:nvGrpSpPr>
        <p:grpSpPr>
          <a:xfrm>
            <a:off x="285259" y="633046"/>
            <a:ext cx="11066587" cy="6224954"/>
            <a:chOff x="0" y="0"/>
            <a:chExt cx="12192000" cy="6857999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F6A74B4-A3C3-5025-7085-020552A829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585" r="41154"/>
            <a:stretch/>
          </p:blipFill>
          <p:spPr bwMode="auto">
            <a:xfrm>
              <a:off x="0" y="0"/>
              <a:ext cx="6102144" cy="3428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C142689-4653-8057-69E0-E56568B861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80" r="35961"/>
            <a:stretch/>
          </p:blipFill>
          <p:spPr bwMode="auto">
            <a:xfrm>
              <a:off x="6089857" y="0"/>
              <a:ext cx="6075626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1C2643E3-928C-CE10-137A-9053F88B0D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96" r="44712"/>
            <a:stretch/>
          </p:blipFill>
          <p:spPr bwMode="auto">
            <a:xfrm>
              <a:off x="0" y="3428998"/>
              <a:ext cx="6096000" cy="3429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7D42084F-5C96-AF53-34CE-E1FF3BD875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64" r="43039"/>
            <a:stretch/>
          </p:blipFill>
          <p:spPr bwMode="auto">
            <a:xfrm>
              <a:off x="6102144" y="3428998"/>
              <a:ext cx="6089856" cy="3429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C93349-B8B5-1908-1DBC-06C49A0119C7}"/>
              </a:ext>
            </a:extLst>
          </p:cNvPr>
          <p:cNvSpPr txBox="1"/>
          <p:nvPr/>
        </p:nvSpPr>
        <p:spPr>
          <a:xfrm>
            <a:off x="3547122" y="131993"/>
            <a:ext cx="5087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Аннотация типов клеток</a:t>
            </a:r>
            <a:endParaRPr lang="en-RU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960E0C-9B2C-6757-AD45-2BD8A3E29CB3}"/>
              </a:ext>
            </a:extLst>
          </p:cNvPr>
          <p:cNvSpPr/>
          <p:nvPr/>
        </p:nvSpPr>
        <p:spPr>
          <a:xfrm>
            <a:off x="10480431" y="2145324"/>
            <a:ext cx="1148862" cy="1349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F29C9-5F14-79DF-4E0B-D97CE67C6D4E}"/>
              </a:ext>
            </a:extLst>
          </p:cNvPr>
          <p:cNvSpPr/>
          <p:nvPr/>
        </p:nvSpPr>
        <p:spPr>
          <a:xfrm>
            <a:off x="11023599" y="5146431"/>
            <a:ext cx="1148862" cy="786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C58BB-6F7B-5309-66D7-FD194D898133}"/>
              </a:ext>
            </a:extLst>
          </p:cNvPr>
          <p:cNvSpPr/>
          <p:nvPr/>
        </p:nvSpPr>
        <p:spPr>
          <a:xfrm>
            <a:off x="5318201" y="5616115"/>
            <a:ext cx="538857" cy="633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006B75-55EB-39C9-8E78-3C315D904852}"/>
              </a:ext>
            </a:extLst>
          </p:cNvPr>
          <p:cNvSpPr/>
          <p:nvPr/>
        </p:nvSpPr>
        <p:spPr>
          <a:xfrm>
            <a:off x="5030390" y="2344614"/>
            <a:ext cx="944497" cy="1349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21502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67CA21D-7DAC-1F9A-62A2-94C0E8E0E5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5" t="10684" r="29270" b="11828"/>
          <a:stretch/>
        </p:blipFill>
        <p:spPr>
          <a:xfrm>
            <a:off x="8943278" y="1015860"/>
            <a:ext cx="2753527" cy="267251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BF54DB4-F819-2E52-127B-38FCE60DBC11}"/>
              </a:ext>
            </a:extLst>
          </p:cNvPr>
          <p:cNvSpPr/>
          <p:nvPr/>
        </p:nvSpPr>
        <p:spPr>
          <a:xfrm>
            <a:off x="5417965" y="3149186"/>
            <a:ext cx="3443537" cy="3443537"/>
          </a:xfrm>
          <a:prstGeom prst="ellipse">
            <a:avLst/>
          </a:prstGeom>
          <a:solidFill>
            <a:srgbClr val="92D050">
              <a:alpha val="206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6A9E4-25EA-697F-2DC0-948E969121A4}"/>
              </a:ext>
            </a:extLst>
          </p:cNvPr>
          <p:cNvSpPr txBox="1"/>
          <p:nvPr/>
        </p:nvSpPr>
        <p:spPr>
          <a:xfrm>
            <a:off x="8861502" y="6164019"/>
            <a:ext cx="917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t-test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5CB7B-8774-E96D-EBE5-3E7510B1CEEC}"/>
              </a:ext>
            </a:extLst>
          </p:cNvPr>
          <p:cNvSpPr txBox="1"/>
          <p:nvPr/>
        </p:nvSpPr>
        <p:spPr>
          <a:xfrm>
            <a:off x="1921727" y="6164018"/>
            <a:ext cx="1312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wilcoxon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9E3704-DDFA-F88D-A19D-BA484516435A}"/>
              </a:ext>
            </a:extLst>
          </p:cNvPr>
          <p:cNvSpPr/>
          <p:nvPr/>
        </p:nvSpPr>
        <p:spPr>
          <a:xfrm>
            <a:off x="3330497" y="3182146"/>
            <a:ext cx="3443537" cy="3443537"/>
          </a:xfrm>
          <a:prstGeom prst="ellipse">
            <a:avLst/>
          </a:prstGeom>
          <a:solidFill>
            <a:srgbClr val="0070C0">
              <a:alpha val="206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C78610-6490-D457-18C4-57D2B656A748}"/>
              </a:ext>
            </a:extLst>
          </p:cNvPr>
          <p:cNvSpPr/>
          <p:nvPr/>
        </p:nvSpPr>
        <p:spPr>
          <a:xfrm>
            <a:off x="4374231" y="2026974"/>
            <a:ext cx="3443537" cy="3443537"/>
          </a:xfrm>
          <a:prstGeom prst="ellipse">
            <a:avLst/>
          </a:prstGeom>
          <a:solidFill>
            <a:srgbClr val="FF0000">
              <a:alpha val="206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8E6768-5F67-F039-5964-2E594AE99FB9}"/>
              </a:ext>
            </a:extLst>
          </p:cNvPr>
          <p:cNvSpPr/>
          <p:nvPr/>
        </p:nvSpPr>
        <p:spPr>
          <a:xfrm>
            <a:off x="11254842" y="2950304"/>
            <a:ext cx="441963" cy="4003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E544D0-BBEB-4E5A-6EDD-EDF415AD14BD}"/>
              </a:ext>
            </a:extLst>
          </p:cNvPr>
          <p:cNvSpPr txBox="1"/>
          <p:nvPr/>
        </p:nvSpPr>
        <p:spPr>
          <a:xfrm>
            <a:off x="5287694" y="1425294"/>
            <a:ext cx="1425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pydeseq2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C0219-5D14-CD43-ABF8-198AA3C2DBBC}"/>
              </a:ext>
            </a:extLst>
          </p:cNvPr>
          <p:cNvSpPr txBox="1"/>
          <p:nvPr/>
        </p:nvSpPr>
        <p:spPr>
          <a:xfrm>
            <a:off x="5842422" y="2364852"/>
            <a:ext cx="578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30</a:t>
            </a:r>
            <a:endParaRPr lang="en-RU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73C491-4067-82E6-BF84-E4F2C8A002E8}"/>
              </a:ext>
            </a:extLst>
          </p:cNvPr>
          <p:cNvSpPr txBox="1"/>
          <p:nvPr/>
        </p:nvSpPr>
        <p:spPr>
          <a:xfrm>
            <a:off x="5842423" y="4447740"/>
            <a:ext cx="507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11</a:t>
            </a:r>
            <a:endParaRPr lang="en-RU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603C0C-06D4-036D-D16E-446B83F231ED}"/>
              </a:ext>
            </a:extLst>
          </p:cNvPr>
          <p:cNvSpPr txBox="1"/>
          <p:nvPr/>
        </p:nvSpPr>
        <p:spPr>
          <a:xfrm>
            <a:off x="4885659" y="3697121"/>
            <a:ext cx="532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12</a:t>
            </a:r>
            <a:endParaRPr lang="en-RU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675742-62CD-028D-1EB6-6AC9E48C0953}"/>
              </a:ext>
            </a:extLst>
          </p:cNvPr>
          <p:cNvSpPr txBox="1"/>
          <p:nvPr/>
        </p:nvSpPr>
        <p:spPr>
          <a:xfrm>
            <a:off x="6774034" y="3697121"/>
            <a:ext cx="568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1</a:t>
            </a:r>
            <a:r>
              <a:rPr lang="en-RU" sz="2400" b="1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58F35B-05C4-563D-E0A5-7B6CEF525017}"/>
              </a:ext>
            </a:extLst>
          </p:cNvPr>
          <p:cNvSpPr txBox="1"/>
          <p:nvPr/>
        </p:nvSpPr>
        <p:spPr>
          <a:xfrm>
            <a:off x="5842422" y="5470510"/>
            <a:ext cx="507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25</a:t>
            </a:r>
            <a:endParaRPr lang="en-RU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538CDF-0DAE-FFE9-41F3-E3DC0D0A8B7F}"/>
              </a:ext>
            </a:extLst>
          </p:cNvPr>
          <p:cNvSpPr txBox="1"/>
          <p:nvPr/>
        </p:nvSpPr>
        <p:spPr>
          <a:xfrm>
            <a:off x="419836" y="2026974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LINC00926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DCD1BA-30BA-9DEF-641D-676CC2A376FD}"/>
              </a:ext>
            </a:extLst>
          </p:cNvPr>
          <p:cNvSpPr txBox="1"/>
          <p:nvPr/>
        </p:nvSpPr>
        <p:spPr>
          <a:xfrm>
            <a:off x="419835" y="2488639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CD37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3C58DF-DDC1-6D4D-5E9F-A8F9C6E3A532}"/>
              </a:ext>
            </a:extLst>
          </p:cNvPr>
          <p:cNvSpPr txBox="1"/>
          <p:nvPr/>
        </p:nvSpPr>
        <p:spPr>
          <a:xfrm>
            <a:off x="419833" y="4320752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IGHM</a:t>
            </a:r>
            <a:endParaRPr lang="en-RU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E1570-8E36-A93A-5F48-5BA5A7F34779}"/>
              </a:ext>
            </a:extLst>
          </p:cNvPr>
          <p:cNvSpPr txBox="1"/>
          <p:nvPr/>
        </p:nvSpPr>
        <p:spPr>
          <a:xfrm>
            <a:off x="419833" y="3864663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CD</a:t>
            </a:r>
            <a:r>
              <a:rPr lang="ru-RU" sz="2400" b="1" dirty="0"/>
              <a:t>74</a:t>
            </a:r>
            <a:endParaRPr lang="en-RU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847349-171C-CB9E-9F51-6182A5A6DFC1}"/>
              </a:ext>
            </a:extLst>
          </p:cNvPr>
          <p:cNvSpPr txBox="1"/>
          <p:nvPr/>
        </p:nvSpPr>
        <p:spPr>
          <a:xfrm>
            <a:off x="419833" y="4776841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IGHD</a:t>
            </a:r>
            <a:endParaRPr lang="en-RU" sz="2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F51519-BE1D-5C51-DA61-03039F4F4E4E}"/>
              </a:ext>
            </a:extLst>
          </p:cNvPr>
          <p:cNvSpPr txBox="1"/>
          <p:nvPr/>
        </p:nvSpPr>
        <p:spPr>
          <a:xfrm>
            <a:off x="419832" y="5232930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MS4A1</a:t>
            </a:r>
            <a:endParaRPr lang="en-R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CEB95-7156-E36A-D355-46DB26F67AC3}"/>
              </a:ext>
            </a:extLst>
          </p:cNvPr>
          <p:cNvSpPr txBox="1"/>
          <p:nvPr/>
        </p:nvSpPr>
        <p:spPr>
          <a:xfrm>
            <a:off x="3582709" y="146166"/>
            <a:ext cx="5026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Поиск маркерных генов</a:t>
            </a:r>
            <a:endParaRPr lang="en-RU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28A7B-0309-0355-CD42-C0F313CD892F}"/>
              </a:ext>
            </a:extLst>
          </p:cNvPr>
          <p:cNvSpPr txBox="1"/>
          <p:nvPr/>
        </p:nvSpPr>
        <p:spPr>
          <a:xfrm>
            <a:off x="5046667" y="792497"/>
            <a:ext cx="2098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PBMC B cells</a:t>
            </a:r>
            <a:endParaRPr lang="en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5F445-FF54-F761-0CE0-D85FD88900A1}"/>
              </a:ext>
            </a:extLst>
          </p:cNvPr>
          <p:cNvSpPr txBox="1"/>
          <p:nvPr/>
        </p:nvSpPr>
        <p:spPr>
          <a:xfrm>
            <a:off x="4468084" y="5470510"/>
            <a:ext cx="578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30</a:t>
            </a:r>
            <a:endParaRPr lang="en-R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4B740-C482-D18D-EE23-929D2407C6A7}"/>
              </a:ext>
            </a:extLst>
          </p:cNvPr>
          <p:cNvSpPr txBox="1"/>
          <p:nvPr/>
        </p:nvSpPr>
        <p:spPr>
          <a:xfrm>
            <a:off x="7239185" y="5470510"/>
            <a:ext cx="578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30</a:t>
            </a:r>
            <a:endParaRPr lang="en-RU" sz="2400" b="1" dirty="0"/>
          </a:p>
        </p:txBody>
      </p:sp>
    </p:spTree>
    <p:extLst>
      <p:ext uri="{BB962C8B-B14F-4D97-AF65-F5344CB8AC3E}">
        <p14:creationId xmlns:p14="http://schemas.microsoft.com/office/powerpoint/2010/main" val="322188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EBEA1-9809-18FD-8A10-E399E9116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531" y="1672098"/>
            <a:ext cx="6256925" cy="4723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A29409-3270-6B7E-01A5-0DB1CFBE61D5}"/>
              </a:ext>
            </a:extLst>
          </p:cNvPr>
          <p:cNvSpPr txBox="1"/>
          <p:nvPr/>
        </p:nvSpPr>
        <p:spPr>
          <a:xfrm>
            <a:off x="3582711" y="228152"/>
            <a:ext cx="5026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Поиск маркерных генов</a:t>
            </a:r>
            <a:endParaRPr lang="en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3A868-F7DF-2B80-39E5-B711E8BF2E2B}"/>
              </a:ext>
            </a:extLst>
          </p:cNvPr>
          <p:cNvSpPr txBox="1"/>
          <p:nvPr/>
        </p:nvSpPr>
        <p:spPr>
          <a:xfrm>
            <a:off x="5554820" y="874483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PBMC</a:t>
            </a:r>
            <a:endParaRPr lang="en-RU" sz="2800" b="1" dirty="0"/>
          </a:p>
        </p:txBody>
      </p:sp>
    </p:spTree>
    <p:extLst>
      <p:ext uri="{BB962C8B-B14F-4D97-AF65-F5344CB8AC3E}">
        <p14:creationId xmlns:p14="http://schemas.microsoft.com/office/powerpoint/2010/main" val="1846336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BF54DB4-F819-2E52-127B-38FCE60DBC11}"/>
              </a:ext>
            </a:extLst>
          </p:cNvPr>
          <p:cNvSpPr/>
          <p:nvPr/>
        </p:nvSpPr>
        <p:spPr>
          <a:xfrm>
            <a:off x="5417965" y="3149186"/>
            <a:ext cx="3443537" cy="3443537"/>
          </a:xfrm>
          <a:prstGeom prst="ellipse">
            <a:avLst/>
          </a:prstGeom>
          <a:solidFill>
            <a:srgbClr val="92D050">
              <a:alpha val="206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6A9E4-25EA-697F-2DC0-948E969121A4}"/>
              </a:ext>
            </a:extLst>
          </p:cNvPr>
          <p:cNvSpPr txBox="1"/>
          <p:nvPr/>
        </p:nvSpPr>
        <p:spPr>
          <a:xfrm>
            <a:off x="8861502" y="6164019"/>
            <a:ext cx="917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t-test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5CB7B-8774-E96D-EBE5-3E7510B1CEEC}"/>
              </a:ext>
            </a:extLst>
          </p:cNvPr>
          <p:cNvSpPr txBox="1"/>
          <p:nvPr/>
        </p:nvSpPr>
        <p:spPr>
          <a:xfrm>
            <a:off x="1921727" y="6164018"/>
            <a:ext cx="1312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wilcoxon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9E3704-DDFA-F88D-A19D-BA484516435A}"/>
              </a:ext>
            </a:extLst>
          </p:cNvPr>
          <p:cNvSpPr/>
          <p:nvPr/>
        </p:nvSpPr>
        <p:spPr>
          <a:xfrm>
            <a:off x="3330497" y="3182146"/>
            <a:ext cx="3443537" cy="3443537"/>
          </a:xfrm>
          <a:prstGeom prst="ellipse">
            <a:avLst/>
          </a:prstGeom>
          <a:solidFill>
            <a:srgbClr val="0070C0">
              <a:alpha val="206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C78610-6490-D457-18C4-57D2B656A748}"/>
              </a:ext>
            </a:extLst>
          </p:cNvPr>
          <p:cNvSpPr/>
          <p:nvPr/>
        </p:nvSpPr>
        <p:spPr>
          <a:xfrm>
            <a:off x="4374231" y="2026974"/>
            <a:ext cx="3443537" cy="3443537"/>
          </a:xfrm>
          <a:prstGeom prst="ellipse">
            <a:avLst/>
          </a:prstGeom>
          <a:solidFill>
            <a:srgbClr val="FF0000">
              <a:alpha val="206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E544D0-BBEB-4E5A-6EDD-EDF415AD14BD}"/>
              </a:ext>
            </a:extLst>
          </p:cNvPr>
          <p:cNvSpPr txBox="1"/>
          <p:nvPr/>
        </p:nvSpPr>
        <p:spPr>
          <a:xfrm>
            <a:off x="5287694" y="1425294"/>
            <a:ext cx="1425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pydeseq2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C0219-5D14-CD43-ABF8-198AA3C2DBBC}"/>
              </a:ext>
            </a:extLst>
          </p:cNvPr>
          <p:cNvSpPr txBox="1"/>
          <p:nvPr/>
        </p:nvSpPr>
        <p:spPr>
          <a:xfrm>
            <a:off x="5696422" y="2386681"/>
            <a:ext cx="799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7345</a:t>
            </a:r>
            <a:endParaRPr lang="en-R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4B711-0E8D-FB8B-19FD-BC9B1C1060D7}"/>
              </a:ext>
            </a:extLst>
          </p:cNvPr>
          <p:cNvSpPr txBox="1"/>
          <p:nvPr/>
        </p:nvSpPr>
        <p:spPr>
          <a:xfrm>
            <a:off x="4125390" y="5470510"/>
            <a:ext cx="49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24</a:t>
            </a:r>
            <a:endParaRPr lang="en-R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16476C-C0D6-9D42-75A9-EB72A6466D6C}"/>
              </a:ext>
            </a:extLst>
          </p:cNvPr>
          <p:cNvSpPr txBox="1"/>
          <p:nvPr/>
        </p:nvSpPr>
        <p:spPr>
          <a:xfrm>
            <a:off x="7568926" y="5470510"/>
            <a:ext cx="49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95</a:t>
            </a:r>
            <a:endParaRPr lang="en-RU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73C491-4067-82E6-BF84-E4F2C8A002E8}"/>
              </a:ext>
            </a:extLst>
          </p:cNvPr>
          <p:cNvSpPr txBox="1"/>
          <p:nvPr/>
        </p:nvSpPr>
        <p:spPr>
          <a:xfrm>
            <a:off x="5842423" y="4447740"/>
            <a:ext cx="507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24</a:t>
            </a:r>
            <a:endParaRPr lang="en-RU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603C0C-06D4-036D-D16E-446B83F231ED}"/>
              </a:ext>
            </a:extLst>
          </p:cNvPr>
          <p:cNvSpPr txBox="1"/>
          <p:nvPr/>
        </p:nvSpPr>
        <p:spPr>
          <a:xfrm>
            <a:off x="4885659" y="3697121"/>
            <a:ext cx="532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24</a:t>
            </a:r>
            <a:endParaRPr lang="en-RU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675742-62CD-028D-1EB6-6AC9E48C0953}"/>
              </a:ext>
            </a:extLst>
          </p:cNvPr>
          <p:cNvSpPr txBox="1"/>
          <p:nvPr/>
        </p:nvSpPr>
        <p:spPr>
          <a:xfrm>
            <a:off x="6774034" y="3697121"/>
            <a:ext cx="568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94</a:t>
            </a:r>
            <a:endParaRPr lang="en-RU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58F35B-05C4-563D-E0A5-7B6CEF525017}"/>
              </a:ext>
            </a:extLst>
          </p:cNvPr>
          <p:cNvSpPr txBox="1"/>
          <p:nvPr/>
        </p:nvSpPr>
        <p:spPr>
          <a:xfrm>
            <a:off x="5842422" y="5470510"/>
            <a:ext cx="507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24</a:t>
            </a:r>
            <a:endParaRPr lang="en-RU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538CDF-0DAE-FFE9-41F3-E3DC0D0A8B7F}"/>
              </a:ext>
            </a:extLst>
          </p:cNvPr>
          <p:cNvSpPr txBox="1"/>
          <p:nvPr/>
        </p:nvSpPr>
        <p:spPr>
          <a:xfrm>
            <a:off x="419836" y="2026974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DUOX2</a:t>
            </a:r>
            <a:endParaRPr lang="en-R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78F69-58DC-CB68-C2F7-97EAB7CD3AEE}"/>
              </a:ext>
            </a:extLst>
          </p:cNvPr>
          <p:cNvSpPr txBox="1"/>
          <p:nvPr/>
        </p:nvSpPr>
        <p:spPr>
          <a:xfrm>
            <a:off x="419836" y="2488639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CD55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7718C-810C-E820-E57F-5397F84EE6F2}"/>
              </a:ext>
            </a:extLst>
          </p:cNvPr>
          <p:cNvSpPr txBox="1"/>
          <p:nvPr/>
        </p:nvSpPr>
        <p:spPr>
          <a:xfrm>
            <a:off x="418298" y="2950304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PI3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47F4E-2E63-93FB-6FD4-429C4081E636}"/>
              </a:ext>
            </a:extLst>
          </p:cNvPr>
          <p:cNvSpPr txBox="1"/>
          <p:nvPr/>
        </p:nvSpPr>
        <p:spPr>
          <a:xfrm>
            <a:off x="418298" y="3411969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ALDOB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6FB42-05AF-3250-8F17-C745FC69D820}"/>
              </a:ext>
            </a:extLst>
          </p:cNvPr>
          <p:cNvSpPr txBox="1"/>
          <p:nvPr/>
        </p:nvSpPr>
        <p:spPr>
          <a:xfrm>
            <a:off x="418298" y="3873634"/>
            <a:ext cx="154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400" b="1" dirty="0"/>
              <a:t>DUOXA2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30BBFB-CA69-03F4-89FF-3CDD3E116AF7}"/>
              </a:ext>
            </a:extLst>
          </p:cNvPr>
          <p:cNvSpPr txBox="1"/>
          <p:nvPr/>
        </p:nvSpPr>
        <p:spPr>
          <a:xfrm>
            <a:off x="882164" y="265277"/>
            <a:ext cx="10427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Сравнение экспрессии между разными условиями</a:t>
            </a:r>
            <a:endParaRPr lang="en-RU" sz="3600" b="1" dirty="0"/>
          </a:p>
        </p:txBody>
      </p:sp>
    </p:spTree>
    <p:extLst>
      <p:ext uri="{BB962C8B-B14F-4D97-AF65-F5344CB8AC3E}">
        <p14:creationId xmlns:p14="http://schemas.microsoft.com/office/powerpoint/2010/main" val="3557585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667547-514D-6B14-BCC5-AE0A9FA60883}"/>
              </a:ext>
            </a:extLst>
          </p:cNvPr>
          <p:cNvSpPr txBox="1"/>
          <p:nvPr/>
        </p:nvSpPr>
        <p:spPr>
          <a:xfrm>
            <a:off x="4884225" y="239441"/>
            <a:ext cx="24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Результаты</a:t>
            </a:r>
            <a:endParaRPr lang="en-R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4EC84-BAAF-FDD1-5CD3-C9CD64F1232C}"/>
              </a:ext>
            </a:extLst>
          </p:cNvPr>
          <p:cNvSpPr txBox="1"/>
          <p:nvPr/>
        </p:nvSpPr>
        <p:spPr>
          <a:xfrm>
            <a:off x="372533" y="1443841"/>
            <a:ext cx="115936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Результаты Т-теста и теста Манна-Уитни хорошо согласуются между собой в обоих экспериментах. При этом т-тест показывает лучшую мощность. Результаты </a:t>
            </a:r>
            <a:r>
              <a:rPr lang="en-US" sz="2800" b="1" dirty="0"/>
              <a:t>pydeseq2 </a:t>
            </a:r>
            <a:r>
              <a:rPr lang="ru-RU" sz="2800" b="1" dirty="0"/>
              <a:t>достаточно плохо согласуются в эксперименте поиска маркеров типов клеток (≤50%), однако </a:t>
            </a:r>
            <a:r>
              <a:rPr lang="en-US" sz="2800" b="1" dirty="0"/>
              <a:t>pydeseq2</a:t>
            </a:r>
            <a:r>
              <a:rPr lang="ru-RU" sz="2800" b="1" dirty="0"/>
              <a:t> показывает лучшую мощность (эффективность) в эксперименте по сравнению экспрессии между условиями (найдено больше статистически значимо изменивших свою экспрессию генов</a:t>
            </a:r>
            <a:endParaRPr lang="en-US" sz="2800" b="1" dirty="0"/>
          </a:p>
          <a:p>
            <a:pPr marL="342900" indent="-342900">
              <a:buFont typeface="+mj-lt"/>
              <a:buAutoNum type="arabicPeriod"/>
            </a:pPr>
            <a:endParaRPr lang="en-US" sz="2800" b="1" dirty="0"/>
          </a:p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Производительность: Т-тест </a:t>
            </a:r>
            <a:r>
              <a:rPr lang="en-US" sz="2800" b="1" dirty="0"/>
              <a:t>&gt; </a:t>
            </a:r>
            <a:r>
              <a:rPr lang="ru-RU" sz="2800" b="1" dirty="0"/>
              <a:t>Манна-Уитни </a:t>
            </a:r>
            <a:r>
              <a:rPr lang="en-US" sz="2800" b="1" dirty="0"/>
              <a:t>&gt;&gt; pydeseq2</a:t>
            </a:r>
            <a:endParaRPr lang="en-RU" sz="2800" b="1" dirty="0"/>
          </a:p>
        </p:txBody>
      </p:sp>
    </p:spTree>
    <p:extLst>
      <p:ext uri="{BB962C8B-B14F-4D97-AF65-F5344CB8AC3E}">
        <p14:creationId xmlns:p14="http://schemas.microsoft.com/office/powerpoint/2010/main" val="3402930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E2A7EA-A58C-CD3B-9964-4B2920005D96}"/>
              </a:ext>
            </a:extLst>
          </p:cNvPr>
          <p:cNvSpPr txBox="1"/>
          <p:nvPr/>
        </p:nvSpPr>
        <p:spPr>
          <a:xfrm>
            <a:off x="5179050" y="205574"/>
            <a:ext cx="1833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Выводы</a:t>
            </a:r>
            <a:endParaRPr lang="en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D5EFF-29B4-9F38-D2F5-5ACE0FD4DE2E}"/>
              </a:ext>
            </a:extLst>
          </p:cNvPr>
          <p:cNvSpPr txBox="1"/>
          <p:nvPr/>
        </p:nvSpPr>
        <p:spPr>
          <a:xfrm>
            <a:off x="519289" y="2305615"/>
            <a:ext cx="111534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Для быстрого поиска маркерных генов (аннотирования) можно использовать как т-тест, так и тест Манна-Уитни. Однако, если нужно провести более тщательный анализ, особенно если типы клеток близкие и для сравнения условий, лучше использовать отрицательно биномиальные модели </a:t>
            </a:r>
            <a:r>
              <a:rPr lang="en-US" sz="2800" b="1" dirty="0"/>
              <a:t>(pydeseq2)</a:t>
            </a:r>
            <a:endParaRPr lang="en-RU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BE15C-4B9F-CF04-4E1A-53734E494487}"/>
              </a:ext>
            </a:extLst>
          </p:cNvPr>
          <p:cNvSpPr txBox="1"/>
          <p:nvPr/>
        </p:nvSpPr>
        <p:spPr>
          <a:xfrm>
            <a:off x="1038578" y="6550223"/>
            <a:ext cx="11153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0" dirty="0">
                <a:effectLst/>
                <a:latin typeface="Merriweather Sans" panose="020F0502020204030204" pitchFamily="34" charset="0"/>
              </a:rPr>
              <a:t>Jeffrey M. Pullin &amp; Davis J. McCarthy</a:t>
            </a:r>
            <a:r>
              <a:rPr lang="ru-RU" sz="1400" b="1" dirty="0">
                <a:latin typeface="Merriweather Sans" panose="020F0502020204030204" pitchFamily="34" charset="0"/>
              </a:rPr>
              <a:t>. «</a:t>
            </a:r>
            <a:r>
              <a:rPr lang="en-GB" sz="1400" b="1" i="0" dirty="0">
                <a:effectLst/>
                <a:latin typeface="Merriweather Sans" panose="020F0502020204030204" pitchFamily="34" charset="0"/>
              </a:rPr>
              <a:t>A comparison of marker gene selection methods for single-cell RNA sequencing data</a:t>
            </a:r>
            <a:r>
              <a:rPr lang="ru-RU" sz="1400" b="1" i="0" dirty="0">
                <a:effectLst/>
                <a:latin typeface="Merriweather Sans" panose="020F0502020204030204" pitchFamily="34" charset="0"/>
              </a:rPr>
              <a:t>»</a:t>
            </a:r>
            <a:endParaRPr lang="en-GB" sz="1400" b="1" i="0" dirty="0">
              <a:effectLst/>
              <a:latin typeface="Merriweather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672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239</Words>
  <Application>Microsoft Macintosh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Merriweather Sans</vt:lpstr>
      <vt:lpstr>Office Theme</vt:lpstr>
      <vt:lpstr>Дифференциальная экспрессия   Отрицательные биномиальные модели  vs. Т-тест  vs. Тест Манна-Уитни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Артем Карпушов</dc:creator>
  <cp:lastModifiedBy>Артем Карпушов</cp:lastModifiedBy>
  <cp:revision>99</cp:revision>
  <dcterms:created xsi:type="dcterms:W3CDTF">2025-11-23T10:23:40Z</dcterms:created>
  <dcterms:modified xsi:type="dcterms:W3CDTF">2025-12-10T10:03:32Z</dcterms:modified>
</cp:coreProperties>
</file>